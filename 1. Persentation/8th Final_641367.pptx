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0"/>
  </p:notesMasterIdLst>
  <p:sldIdLst>
    <p:sldId id="256" r:id="rId2"/>
    <p:sldId id="257" r:id="rId3"/>
    <p:sldId id="293" r:id="rId4"/>
    <p:sldId id="258" r:id="rId5"/>
    <p:sldId id="285" r:id="rId6"/>
    <p:sldId id="287" r:id="rId7"/>
    <p:sldId id="294" r:id="rId8"/>
    <p:sldId id="295" r:id="rId9"/>
  </p:sldIdLst>
  <p:sldSz cx="19010313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" userDrawn="1">
          <p15:clr>
            <a:srgbClr val="A4A3A4"/>
          </p15:clr>
        </p15:guide>
        <p15:guide id="2" pos="11124" userDrawn="1">
          <p15:clr>
            <a:srgbClr val="A4A3A4"/>
          </p15:clr>
        </p15:guide>
        <p15:guide id="3" orient="horz" pos="6344" userDrawn="1">
          <p15:clr>
            <a:srgbClr val="A4A3A4"/>
          </p15:clr>
        </p15:guide>
        <p15:guide id="4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F00"/>
    <a:srgbClr val="E3B525"/>
    <a:srgbClr val="009EF3"/>
    <a:srgbClr val="FFA1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>
      <p:cViewPr varScale="1">
        <p:scale>
          <a:sx n="73" d="100"/>
          <a:sy n="73" d="100"/>
        </p:scale>
        <p:origin x="468" y="72"/>
      </p:cViewPr>
      <p:guideLst>
        <p:guide orient="horz" pos="344"/>
        <p:guide pos="11124"/>
        <p:guide orient="horz" pos="6344"/>
        <p:guide pos="6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F3456-A29E-41FE-BFB7-B24F24BEE47B}" type="datetimeFigureOut">
              <a:rPr lang="cs-CZ" smtClean="0"/>
              <a:t>29.12.2025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5B543-0236-4AEE-9F15-C7CF115048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25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073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969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954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2319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957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077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662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200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004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924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830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569325"/>
            <a:ext cx="4099099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569325"/>
            <a:ext cx="12059667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863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60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6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istockphoto.com/photos/sq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jpeg"/><Relationship Id="rId5" Type="http://schemas.openxmlformats.org/officeDocument/2006/relationships/hyperlink" Target="https://iconape.com/dhaka-polytechnic-institute-logo-logo-icon-svg-png.html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photos/sqa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photos/sqa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photos/sqa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photos/sqa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photos/sqa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photos/sqa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tockphoto.com/photos/sqa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20F95502-65C6-482A-9B40-DDCB8DAA9D75}"/>
              </a:ext>
            </a:extLst>
          </p:cNvPr>
          <p:cNvGrpSpPr/>
          <p:nvPr/>
        </p:nvGrpSpPr>
        <p:grpSpPr>
          <a:xfrm>
            <a:off x="0" y="0"/>
            <a:ext cx="19010313" cy="1112119"/>
            <a:chOff x="-324644" y="2222500"/>
            <a:chExt cx="22261685" cy="1302327"/>
          </a:xfrm>
        </p:grpSpPr>
        <p:sp>
          <p:nvSpPr>
            <p:cNvPr id="2" name="object 2"/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" name="object 3"/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" name="object 4"/>
          <p:cNvSpPr txBox="1"/>
          <p:nvPr/>
        </p:nvSpPr>
        <p:spPr>
          <a:xfrm>
            <a:off x="1244830" y="317499"/>
            <a:ext cx="38355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spc="-10" dirty="0">
                <a:solidFill>
                  <a:srgbClr val="FFFFFF"/>
                </a:solidFill>
                <a:cs typeface="Source Sans Pro Light"/>
              </a:rPr>
              <a:t>Software</a:t>
            </a:r>
            <a:endParaRPr sz="3200" dirty="0">
              <a:cs typeface="Source Sans Pro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57558" y="241300"/>
            <a:ext cx="5600198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95300">
              <a:spcBef>
                <a:spcPts val="690"/>
              </a:spcBef>
            </a:pPr>
            <a:r>
              <a:rPr lang="en-US" sz="3200" spc="-10" dirty="0">
                <a:solidFill>
                  <a:srgbClr val="FFFFFF"/>
                </a:solidFill>
                <a:cs typeface="Source Sans Pro Light"/>
              </a:rPr>
              <a:t>Testing</a:t>
            </a:r>
            <a:endParaRPr sz="3200" dirty="0">
              <a:cs typeface="Source Sans Pro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86758" y="241300"/>
            <a:ext cx="5600198" cy="580928"/>
          </a:xfrm>
          <a:prstGeom prst="rect">
            <a:avLst/>
          </a:prstGeom>
          <a:noFill/>
        </p:spPr>
        <p:txBody>
          <a:bodyPr vert="horz" wrap="square" lIns="0" tIns="87630" rIns="0" bIns="0" rtlCol="0">
            <a:spAutoFit/>
          </a:bodyPr>
          <a:lstStyle/>
          <a:p>
            <a:pPr marL="406400">
              <a:spcBef>
                <a:spcPts val="690"/>
              </a:spcBef>
            </a:pPr>
            <a:r>
              <a:rPr lang="en-US" sz="3200" spc="-5" dirty="0">
                <a:solidFill>
                  <a:srgbClr val="FFFFFF"/>
                </a:solidFill>
                <a:cs typeface="Source Sans Pro Light"/>
              </a:rPr>
              <a:t>Quality</a:t>
            </a:r>
            <a:endParaRPr sz="3200" dirty="0">
              <a:cs typeface="Source Sans Pro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01156" y="317500"/>
            <a:ext cx="278505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spc="-15" dirty="0">
                <a:solidFill>
                  <a:srgbClr val="FFFFFF"/>
                </a:solidFill>
                <a:cs typeface="Source Sans Pro Light"/>
              </a:rPr>
              <a:t>Assurance</a:t>
            </a:r>
            <a:endParaRPr sz="3200" dirty="0">
              <a:cs typeface="Source Sans Pro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284" y="3760596"/>
            <a:ext cx="19010313" cy="69455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 txBox="1"/>
          <p:nvPr/>
        </p:nvSpPr>
        <p:spPr>
          <a:xfrm>
            <a:off x="4171156" y="1652359"/>
            <a:ext cx="107823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lnSpc>
                <a:spcPct val="100000"/>
              </a:lnSpc>
              <a:spcBef>
                <a:spcPts val="100"/>
              </a:spcBef>
            </a:pPr>
            <a:r>
              <a:rPr lang="en-US" sz="7200" spc="-5" dirty="0">
                <a:solidFill>
                  <a:srgbClr val="00318B"/>
                </a:solidFill>
                <a:cs typeface="Source Sans Pro"/>
              </a:rPr>
              <a:t>Dhaka Polytechnic Institute</a:t>
            </a:r>
            <a:endParaRPr lang="cs-CZ" sz="7200" dirty="0">
              <a:cs typeface="Source Sans Pr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56956" y="4214212"/>
            <a:ext cx="92964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 marR="5080" indent="-133985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5" dirty="0">
                <a:solidFill>
                  <a:srgbClr val="00A0EF"/>
                </a:solidFill>
                <a:cs typeface="Source Sans Pro Light"/>
              </a:rPr>
              <a:t>Software Testing &amp; Quality Assurance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B6693BC-4A18-4813-9259-0D981B73ED03}"/>
              </a:ext>
            </a:extLst>
          </p:cNvPr>
          <p:cNvSpPr/>
          <p:nvPr/>
        </p:nvSpPr>
        <p:spPr>
          <a:xfrm>
            <a:off x="3028156" y="1546698"/>
            <a:ext cx="1332141" cy="1332141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165C23E-A1E2-4B8C-83B5-61800644F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3839" y="2878839"/>
            <a:ext cx="4952998" cy="383836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/>
              <a:t>Tejgaon, Dhaka- 1208</a:t>
            </a:r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01E794A1-C8C1-4BC8-BE6C-74650440D2B6}"/>
              </a:ext>
            </a:extLst>
          </p:cNvPr>
          <p:cNvSpPr txBox="1"/>
          <p:nvPr/>
        </p:nvSpPr>
        <p:spPr>
          <a:xfrm>
            <a:off x="4856956" y="5041900"/>
            <a:ext cx="92964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 marR="5080" indent="-133985" algn="ctr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>
                <a:solidFill>
                  <a:srgbClr val="00A0EF"/>
                </a:solidFill>
                <a:cs typeface="Source Sans Pro Light"/>
              </a:rPr>
              <a:t>Manual &amp; Automation Testing Project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DFEA011-5359-4352-958C-A9DE010C07A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/>
        </p:blipFill>
        <p:spPr>
          <a:xfrm>
            <a:off x="17110646" y="9385300"/>
            <a:ext cx="1173798" cy="985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8" name="Title 10">
            <a:extLst>
              <a:ext uri="{FF2B5EF4-FFF2-40B4-BE49-F238E27FC236}">
                <a16:creationId xmlns:a16="http://schemas.microsoft.com/office/drawing/2014/main" id="{AFB48C09-B95D-4449-9036-2850E78B9017}"/>
              </a:ext>
            </a:extLst>
          </p:cNvPr>
          <p:cNvSpPr txBox="1">
            <a:spLocks/>
          </p:cNvSpPr>
          <p:nvPr/>
        </p:nvSpPr>
        <p:spPr>
          <a:xfrm>
            <a:off x="4385524" y="6613104"/>
            <a:ext cx="10353564" cy="32881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4257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8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u="sng" dirty="0">
                <a:latin typeface="+mn-lt"/>
              </a:rPr>
              <a:t>Presented by</a:t>
            </a:r>
          </a:p>
          <a:p>
            <a:pPr algn="ctr"/>
            <a:endParaRPr lang="en-US" sz="3600" u="sng" dirty="0">
              <a:latin typeface="+mn-lt"/>
            </a:endParaRPr>
          </a:p>
          <a:p>
            <a:r>
              <a:rPr lang="en-US" sz="3600" dirty="0">
                <a:latin typeface="+mn-lt"/>
              </a:rPr>
              <a:t>Name 		: Md Yeamin Hossain Fuhad</a:t>
            </a:r>
          </a:p>
          <a:p>
            <a:r>
              <a:rPr lang="en-US" sz="3600" dirty="0">
                <a:latin typeface="+mn-lt"/>
              </a:rPr>
              <a:t>Roll 		: 641367</a:t>
            </a:r>
          </a:p>
          <a:p>
            <a:r>
              <a:rPr lang="en-US" sz="3600" dirty="0">
                <a:latin typeface="+mn-lt"/>
              </a:rPr>
              <a:t>Department 	: Computer Science &amp; Technology</a:t>
            </a:r>
          </a:p>
          <a:p>
            <a:r>
              <a:rPr lang="en-US" sz="3600" dirty="0">
                <a:latin typeface="+mn-lt"/>
              </a:rPr>
              <a:t>Semester	: 8th</a:t>
            </a:r>
          </a:p>
          <a:p>
            <a:r>
              <a:rPr lang="en-US" sz="3600" dirty="0">
                <a:latin typeface="+mn-lt"/>
              </a:rPr>
              <a:t>Shift 		: 1</a:t>
            </a:r>
            <a:r>
              <a:rPr lang="en-US" sz="3600" baseline="30000" dirty="0">
                <a:latin typeface="+mn-lt"/>
              </a:rPr>
              <a:t>st</a:t>
            </a:r>
            <a:endParaRPr lang="en-US" sz="3600" dirty="0">
              <a:latin typeface="+mn-lt"/>
            </a:endParaRPr>
          </a:p>
          <a:p>
            <a:r>
              <a:rPr lang="en-US" sz="3600" dirty="0">
                <a:latin typeface="+mn-lt"/>
              </a:rPr>
              <a:t>Section 	: A</a:t>
            </a:r>
          </a:p>
          <a:p>
            <a:r>
              <a:rPr lang="en-US" sz="3600" dirty="0">
                <a:latin typeface="+mn-lt"/>
              </a:rPr>
              <a:t>Session 	: 2021-22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985AB44F-D837-4737-86D1-C4E5A35B8AC4}"/>
              </a:ext>
            </a:extLst>
          </p:cNvPr>
          <p:cNvGrpSpPr/>
          <p:nvPr/>
        </p:nvGrpSpPr>
        <p:grpSpPr>
          <a:xfrm>
            <a:off x="0" y="523743"/>
            <a:ext cx="4800599" cy="828000"/>
            <a:chOff x="0" y="8642689"/>
            <a:chExt cx="4336348" cy="439424"/>
          </a:xfrm>
        </p:grpSpPr>
        <p:sp>
          <p:nvSpPr>
            <p:cNvPr id="53" name="object 4">
              <a:extLst>
                <a:ext uri="{FF2B5EF4-FFF2-40B4-BE49-F238E27FC236}">
                  <a16:creationId xmlns:a16="http://schemas.microsoft.com/office/drawing/2014/main" id="{6DB0E343-9628-4235-8038-621A98D250CA}"/>
                </a:ext>
              </a:extLst>
            </p:cNvPr>
            <p:cNvSpPr/>
            <p:nvPr/>
          </p:nvSpPr>
          <p:spPr>
            <a:xfrm>
              <a:off x="0" y="8642693"/>
              <a:ext cx="3923363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4" name="object 5">
              <a:extLst>
                <a:ext uri="{FF2B5EF4-FFF2-40B4-BE49-F238E27FC236}">
                  <a16:creationId xmlns:a16="http://schemas.microsoft.com/office/drawing/2014/main" id="{CF5C245D-05EF-4DFD-8810-E437FF667919}"/>
                </a:ext>
              </a:extLst>
            </p:cNvPr>
            <p:cNvSpPr/>
            <p:nvPr/>
          </p:nvSpPr>
          <p:spPr>
            <a:xfrm>
              <a:off x="3621605" y="8642689"/>
              <a:ext cx="714743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5" name="object 9">
            <a:extLst>
              <a:ext uri="{FF2B5EF4-FFF2-40B4-BE49-F238E27FC236}">
                <a16:creationId xmlns:a16="http://schemas.microsoft.com/office/drawing/2014/main" id="{290C40E7-4402-4FD6-90CE-5CDF3FC9D08D}"/>
              </a:ext>
            </a:extLst>
          </p:cNvPr>
          <p:cNvSpPr txBox="1"/>
          <p:nvPr/>
        </p:nvSpPr>
        <p:spPr>
          <a:xfrm>
            <a:off x="665956" y="738245"/>
            <a:ext cx="3581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as-IN" sz="2800" b="1" dirty="0">
                <a:solidFill>
                  <a:srgbClr val="F9FAFB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ভূমিকা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5E641-2ABA-4825-9907-6990191FA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959" y="2146300"/>
            <a:ext cx="16396395" cy="7485187"/>
          </a:xfrm>
        </p:spPr>
        <p:txBody>
          <a:bodyPr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সফটওয়্যার টেস্টিং এবং কোয়ালিটি অ্যাস্যুরেন্স (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QA) 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হলো সফটওয়্যার ডেভেলপমেন্ট লাইফ সাইকেলের (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SDLC) 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একটি অপরিহার্য অংশ। এর প্রাথমিক ভূমিকা হল:</a:t>
            </a:r>
            <a:endParaRPr lang="en-US" sz="3200" b="0" i="0" dirty="0"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as-IN" sz="3200" b="0" i="0" dirty="0"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সফটওয়্যারটির কার্যকারিতা, নির্ভরযোগ্যতা, কর্মদক্ষতা এবং ব্যবহারযোগ্যতা যাচাই করা।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ডেভেলপমেন্ট প্রক্রিয়ার শুরুতেই ত্রুটি বা বাগ শনাক্ত করে উন্নয়ন খরচ ও সময় কমানো।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এই প্রক্রিয়া নিশ্চিত করে যে চূড়ান্ত পণ্যটি ব্যবহারকারীর চাহিদা এবং নির্ধারিত মানদণ্ড (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Specifications) 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পূরণ করে।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টেস্টিং ও 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QA-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র মাধ্যমে একটি উচ্চ-মানের, নিরাপদ এবং সুরক্ষিত সফটওয়্যার ব্যবহারকারীর কাছে পৌঁছে দেওয়া সম্ভব হয়।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76665A-BC12-4C34-9013-321EF8CF75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17110646" y="9385300"/>
            <a:ext cx="1173798" cy="985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1A56C1B5-1305-4BF1-ADC7-4900FC4F5C06}"/>
              </a:ext>
            </a:extLst>
          </p:cNvPr>
          <p:cNvGrpSpPr/>
          <p:nvPr/>
        </p:nvGrpSpPr>
        <p:grpSpPr>
          <a:xfrm>
            <a:off x="-794" y="546100"/>
            <a:ext cx="3256757" cy="828000"/>
            <a:chOff x="0" y="5270500"/>
            <a:chExt cx="3256757" cy="828000"/>
          </a:xfrm>
        </p:grpSpPr>
        <p:sp>
          <p:nvSpPr>
            <p:cNvPr id="25" name="object 25"/>
            <p:cNvSpPr/>
            <p:nvPr/>
          </p:nvSpPr>
          <p:spPr>
            <a:xfrm>
              <a:off x="0" y="5270500"/>
              <a:ext cx="3256757" cy="828000"/>
            </a:xfrm>
            <a:custGeom>
              <a:avLst/>
              <a:gdLst/>
              <a:ahLst/>
              <a:cxnLst/>
              <a:rect l="l" t="t" r="r" b="b"/>
              <a:pathLst>
                <a:path w="1955164" h="437514">
                  <a:moveTo>
                    <a:pt x="1736031" y="0"/>
                  </a:moveTo>
                  <a:lnTo>
                    <a:pt x="0" y="0"/>
                  </a:lnTo>
                  <a:lnTo>
                    <a:pt x="0" y="437153"/>
                  </a:lnTo>
                  <a:lnTo>
                    <a:pt x="1736031" y="437153"/>
                  </a:lnTo>
                  <a:lnTo>
                    <a:pt x="1786148" y="431380"/>
                  </a:lnTo>
                  <a:lnTo>
                    <a:pt x="1832155" y="414936"/>
                  </a:lnTo>
                  <a:lnTo>
                    <a:pt x="1872739" y="389134"/>
                  </a:lnTo>
                  <a:lnTo>
                    <a:pt x="1906588" y="355285"/>
                  </a:lnTo>
                  <a:lnTo>
                    <a:pt x="1932391" y="314701"/>
                  </a:lnTo>
                  <a:lnTo>
                    <a:pt x="1948834" y="268694"/>
                  </a:lnTo>
                  <a:lnTo>
                    <a:pt x="1954607" y="218577"/>
                  </a:lnTo>
                  <a:lnTo>
                    <a:pt x="1948834" y="168459"/>
                  </a:lnTo>
                  <a:lnTo>
                    <a:pt x="1932391" y="122452"/>
                  </a:lnTo>
                  <a:lnTo>
                    <a:pt x="1906588" y="81868"/>
                  </a:lnTo>
                  <a:lnTo>
                    <a:pt x="1872739" y="48018"/>
                  </a:lnTo>
                  <a:lnTo>
                    <a:pt x="1832155" y="22216"/>
                  </a:lnTo>
                  <a:lnTo>
                    <a:pt x="1786148" y="5772"/>
                  </a:lnTo>
                  <a:lnTo>
                    <a:pt x="1736031" y="0"/>
                  </a:lnTo>
                  <a:close/>
                </a:path>
              </a:pathLst>
            </a:custGeom>
            <a:solidFill>
              <a:srgbClr val="FF820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665956" y="5436389"/>
              <a:ext cx="2561858" cy="44371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lang="as-IN" sz="2800" b="0" i="0" dirty="0">
                  <a:solidFill>
                    <a:srgbClr val="E6E8F0"/>
                  </a:solidFill>
                  <a:effectLst/>
                  <a:latin typeface="Nirmala UI" panose="020B0502040204020203" pitchFamily="34" charset="0"/>
                  <a:ea typeface="Nirmala UI" panose="020B0502040204020203" pitchFamily="34" charset="0"/>
                  <a:cs typeface="Nirmala UI" panose="020B0502040204020203" pitchFamily="34" charset="0"/>
                </a:rPr>
                <a:t>মূলতত্ত্ব</a:t>
              </a:r>
              <a:endParaRPr sz="28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endParaRPr>
            </a:p>
          </p:txBody>
        </p:sp>
      </p:grp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8BD069C0-713F-46C3-BFF5-E367E8FE51D8}"/>
              </a:ext>
            </a:extLst>
          </p:cNvPr>
          <p:cNvSpPr txBox="1">
            <a:spLocks/>
          </p:cNvSpPr>
          <p:nvPr/>
        </p:nvSpPr>
        <p:spPr>
          <a:xfrm>
            <a:off x="1306959" y="2146300"/>
            <a:ext cx="16396395" cy="7485187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56433" indent="-356433" algn="l" defTabSz="1425732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43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299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2166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5032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898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764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631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6497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9363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</a:pP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টেস্টিং ও 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QA-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র মৌলিক ধারণাগুলো বোঝা জরুরি: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s-IN" sz="32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টেস্টিংয়ের স্তর (</a:t>
            </a:r>
            <a:r>
              <a:rPr lang="en-US" sz="32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Testing Levels):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ইউনিট টেস্টিং, ইন্টিগ্রেশন টেস্টিং, সিস্টেম টেস্টিং এবং ইউজার অ্যাকসেপট্যান্স টেস্টিং (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UAT)।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s-IN" sz="32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টেস্টিংয়ের ধরন (</a:t>
            </a:r>
            <a:r>
              <a:rPr lang="en-US" sz="32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Testing Types):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ফাংশনাল টেস্টিং, নন-ফাংশনাল টেস্টিং (পারফরম্যান্স, লোড, সিকিউরিটি টেস্টিং ইত্যাদি), রিগ্রেশন টেস্টিং এবং স্মোক টেস্টিং।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s-IN" sz="32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 কেস ও টেস্ট স্যুট (</a:t>
            </a:r>
            <a:r>
              <a:rPr lang="en-US" sz="32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Test Case &amp; Test Suite):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 কেসে ইনপুট, এক্সিকিউশনের শর্ত এবং প্রত্যাশিত আউটপুট বর্ণনা করা থাকে। একই উদ্দেশ্যে একত্রিত কেসগুলোর গ্রুপই টেস্ট স্যুট।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s-IN" sz="32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ডিফেক্ট লাইফ সাইকেল (</a:t>
            </a:r>
            <a:r>
              <a:rPr lang="en-US" sz="32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Defect Life Cycle):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একটি বাগ বা ত্রুটি শনাক্ত হওয়া থেকে শুরু করে রিপোর্ট, ফিক্স, যাচাই এবং শেষ পর্যন্ত বন্ধ হওয়া পর্যন্ত যে ধাপগুলো পার হয়।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QA </a:t>
            </a:r>
            <a:r>
              <a:rPr lang="as-IN" sz="32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এবং </a:t>
            </a:r>
            <a:r>
              <a:rPr lang="en-US" sz="32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QC (Quality Assurance vs. Quality Control):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QA 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একটি প্রক্রিয়াভিত্তিক (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Process-Oriented) 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প্রতিরোধমূলক (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Preventive) 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কার্যক্রম, যা নিশ্চিত করে ভালো পণ্য তৈরি হবে। অন্যদিকে 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QC 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একটি পণ্য-ভিত্তিক (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Product-Oriented) 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কার্যক্রম, যা তৈরি হওয়া পণ্যের ত্রুটি শনাক্ত করে (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Detective)।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E86E788-D80B-4BC9-A448-BBD59EC21D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17110646" y="9385300"/>
            <a:ext cx="1173798" cy="985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5451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0" y="546100"/>
            <a:ext cx="5314155" cy="828000"/>
            <a:chOff x="564554" y="8642689"/>
            <a:chExt cx="3496471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564554" y="8642693"/>
              <a:ext cx="3280372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665956" y="738245"/>
            <a:ext cx="3581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as-IN" sz="2800" b="1" dirty="0">
                <a:solidFill>
                  <a:srgbClr val="F9FAFB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প্রয়োজনীয় যন্ত্রপাতি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66C2B8D-F01F-4A85-AC4E-469153EAFB72}"/>
              </a:ext>
            </a:extLst>
          </p:cNvPr>
          <p:cNvSpPr txBox="1">
            <a:spLocks/>
          </p:cNvSpPr>
          <p:nvPr/>
        </p:nvSpPr>
        <p:spPr>
          <a:xfrm>
            <a:off x="1306959" y="2146300"/>
            <a:ext cx="16396395" cy="7485187"/>
          </a:xfrm>
          <a:prstGeom prst="rect">
            <a:avLst/>
          </a:prstGeom>
        </p:spPr>
        <p:txBody>
          <a:bodyPr>
            <a:noAutofit/>
          </a:bodyPr>
          <a:lstStyle>
            <a:lvl1pPr marL="356433" indent="-356433" algn="l" defTabSz="1425732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43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299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2166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5032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898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764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631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6497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9363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</a:pPr>
            <a:r>
              <a:rPr lang="as-IN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বিভিন্ন ধরনের টেস্টিংয়ের জন্য বিভিন্ন টুল ব্যবহার করা হয়: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s-IN" sz="27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 ম্যানেজমেন্ট টুল:</a:t>
            </a:r>
            <a:r>
              <a:rPr lang="as-IN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যেমন </a:t>
            </a:r>
            <a:r>
              <a:rPr lang="en-US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Jira, TestRail, </a:t>
            </a:r>
            <a:r>
              <a:rPr lang="en-US" sz="2700" b="0" i="0" dirty="0" err="1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qTest</a:t>
            </a:r>
            <a:r>
              <a:rPr lang="en-US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। </a:t>
            </a:r>
            <a:r>
              <a:rPr lang="as-IN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এগুলো টেস্ট কেস, প্ল্যান, রান এবং বাগ ট্র্যাক করতে সাহায্য করে।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s-IN" sz="27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অটোমেশন টেস্টিং টুল:</a:t>
            </a:r>
            <a:r>
              <a:rPr lang="as-IN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যেমন </a:t>
            </a:r>
            <a:r>
              <a:rPr lang="en-US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Selenium (</a:t>
            </a:r>
            <a:r>
              <a:rPr lang="as-IN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ওয়েব অ্যাপের জন্য), </a:t>
            </a:r>
            <a:r>
              <a:rPr lang="en-US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Appium (</a:t>
            </a:r>
            <a:r>
              <a:rPr lang="as-IN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মোবাইল অ্যাপের জন্য), </a:t>
            </a:r>
            <a:r>
              <a:rPr lang="en-US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Cypress, Playwright, </a:t>
            </a:r>
            <a:r>
              <a:rPr lang="en-US" sz="2700" b="0" i="0" dirty="0" err="1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Katalon</a:t>
            </a:r>
            <a:r>
              <a:rPr lang="en-US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Studio।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s-IN" sz="27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পারফরম্যান্স টেস্টিং টুল:</a:t>
            </a:r>
            <a:r>
              <a:rPr lang="as-IN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যেমন </a:t>
            </a:r>
            <a:r>
              <a:rPr lang="en-US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JMeter, LoadRunner, Gatling।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API </a:t>
            </a:r>
            <a:r>
              <a:rPr lang="as-IN" sz="27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টেস্টিং টুল:</a:t>
            </a:r>
            <a:r>
              <a:rPr lang="as-IN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যেমন </a:t>
            </a:r>
            <a:r>
              <a:rPr lang="en-US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Postman, SoapUI, Rest-Assured।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s-IN" sz="27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কন্টিনিউয়াস ইন্টিগ্রেশন/ডেলিভারি (</a:t>
            </a:r>
            <a:r>
              <a:rPr lang="en-US" sz="27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CI/CD) </a:t>
            </a:r>
            <a:r>
              <a:rPr lang="as-IN" sz="27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টুল:</a:t>
            </a:r>
            <a:r>
              <a:rPr lang="as-IN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যেমন </a:t>
            </a:r>
            <a:r>
              <a:rPr lang="en-US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Jenkins, GitLab CI, </a:t>
            </a:r>
            <a:r>
              <a:rPr lang="en-US" sz="2700" b="0" i="0" dirty="0" err="1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CircleCI</a:t>
            </a:r>
            <a:r>
              <a:rPr lang="en-US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</a:t>
            </a:r>
            <a:r>
              <a:rPr lang="as-IN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এগুলোতে অটোমেটেড টেস্ট স্ক্রিপ্ট ইন্টিগ্রেট করা যায়।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AI-</a:t>
            </a:r>
            <a:r>
              <a:rPr lang="as-IN" sz="27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পাওয়ার্ড টুল </a:t>
            </a:r>
            <a:r>
              <a:rPr lang="en-US" sz="27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: </a:t>
            </a:r>
            <a:r>
              <a:rPr lang="en-US" sz="2700" i="0" dirty="0" err="1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Deepseek</a:t>
            </a:r>
            <a:r>
              <a:rPr lang="en-US" sz="270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, </a:t>
            </a:r>
            <a:r>
              <a:rPr lang="en-US" sz="2700" i="0" dirty="0" err="1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ChatGPT</a:t>
            </a:r>
            <a:r>
              <a:rPr lang="en-US" sz="270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, Claude</a:t>
            </a:r>
            <a:r>
              <a:rPr lang="en-US" sz="27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etc.</a:t>
            </a:r>
            <a:endParaRPr lang="as-IN" sz="2700" b="0" i="0" dirty="0"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7577C6-BD94-4AAE-8272-25A38F2173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17110646" y="9385300"/>
            <a:ext cx="1173798" cy="985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0" y="546100"/>
            <a:ext cx="4933156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665956" y="738245"/>
            <a:ext cx="3581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as-IN" sz="2800" b="1" i="0" dirty="0">
                <a:solidFill>
                  <a:srgbClr val="E6E8F0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কার্যপদ্ধতি</a:t>
            </a:r>
            <a:r>
              <a:rPr lang="as-IN" sz="2800" b="1" i="0" dirty="0">
                <a:solidFill>
                  <a:srgbClr val="E6E8F0"/>
                </a:solidFill>
                <a:effectLst/>
                <a:latin typeface="Google Sans"/>
              </a:rPr>
              <a:t> </a:t>
            </a:r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FE0E056F-D126-4804-B172-9B9E4CFEEEF6}"/>
              </a:ext>
            </a:extLst>
          </p:cNvPr>
          <p:cNvSpPr txBox="1"/>
          <p:nvPr/>
        </p:nvSpPr>
        <p:spPr>
          <a:xfrm>
            <a:off x="665956" y="8716023"/>
            <a:ext cx="3581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cs-CZ" sz="2800" dirty="0">
                <a:solidFill>
                  <a:srgbClr val="FFFFFF"/>
                </a:solidFill>
                <a:cs typeface="Source Sans Pro Light"/>
              </a:rPr>
              <a:t>EXPLORE</a:t>
            </a:r>
            <a:endParaRPr lang="cs-CZ" sz="2800" dirty="0">
              <a:cs typeface="Source Sans Pro Light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0BD3A32-E7F1-48DC-81E7-32C7A480FD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17322958" y="9385300"/>
            <a:ext cx="1173798" cy="985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93E0DDF9-879A-4C1B-83C1-389AA3ECB0BE}"/>
              </a:ext>
            </a:extLst>
          </p:cNvPr>
          <p:cNvSpPr txBox="1">
            <a:spLocks/>
          </p:cNvSpPr>
          <p:nvPr/>
        </p:nvSpPr>
        <p:spPr>
          <a:xfrm>
            <a:off x="1306958" y="1674547"/>
            <a:ext cx="16396395" cy="7485187"/>
          </a:xfrm>
          <a:prstGeom prst="rect">
            <a:avLst/>
          </a:prstGeom>
        </p:spPr>
        <p:txBody>
          <a:bodyPr>
            <a:noAutofit/>
          </a:bodyPr>
          <a:lstStyle>
            <a:lvl1pPr marL="356433" indent="-356433" algn="l" defTabSz="1425732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43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299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2166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5032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898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764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631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6497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9363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</a:pPr>
            <a:r>
              <a:rPr lang="as-IN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একটি  সাধারণ সফটওয়্যার টেস্টিং প্রক্রিয়া নিচের ধাপগুলো অনুসরণ করে: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as-IN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প্রয়োজন বিশ্লেষণ (</a:t>
            </a:r>
            <a:r>
              <a:rPr lang="en-US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Requirement Analysis):</a:t>
            </a:r>
            <a:r>
              <a:rPr lang="en-US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</a:t>
            </a:r>
            <a:r>
              <a:rPr lang="as-IN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 করার আগে সফটওয়্যার রিকোয়ারমেন্ট বা ইউজার স্টোরি ভালোভাবে বোঝা।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as-IN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 পরিকল্পনা (</a:t>
            </a:r>
            <a:r>
              <a:rPr lang="en-US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Test Planning):</a:t>
            </a:r>
            <a:r>
              <a:rPr lang="en-US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</a:t>
            </a:r>
            <a:r>
              <a:rPr lang="as-IN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টেস্টের সুযোগ (</a:t>
            </a:r>
            <a:r>
              <a:rPr lang="en-US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Scope), </a:t>
            </a:r>
            <a:r>
              <a:rPr lang="as-IN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উদ্দেশ্য, পদ্ধতি, রিসোর্স এবং সময়সীমা নির্ধারণ। টেস্ট প্ল্যান ডকুমেন্ট তৈরি।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as-IN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 কেস ডিজাইন (</a:t>
            </a:r>
            <a:r>
              <a:rPr lang="en-US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Test Case Design):</a:t>
            </a:r>
            <a:r>
              <a:rPr lang="en-US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</a:t>
            </a:r>
            <a:r>
              <a:rPr lang="as-IN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রিকোয়ারমেন্টের উপর ভিত্তি করে বিস্তারিত টেস্ট কেস তৈরি করা। প্রত্যাশিত ফলাফল (</a:t>
            </a:r>
            <a:r>
              <a:rPr lang="en-US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Expected Result) </a:t>
            </a:r>
            <a:r>
              <a:rPr lang="as-IN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উল্লেখ করা।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as-IN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 এনভায়রনমেন্ট সেটআপ (</a:t>
            </a:r>
            <a:r>
              <a:rPr lang="en-US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Test Environment Setup):</a:t>
            </a:r>
            <a:r>
              <a:rPr lang="en-US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</a:t>
            </a:r>
            <a:r>
              <a:rPr lang="as-IN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টেস্টিংয়ের জন্য আলাদা হার্ডওয়্যার, সফটওয়্যার, নেটওয়ার্ক কনফিগারেশন ইত্যাদি প্রস্তুত করা।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as-IN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 এক্সিকিউশন (</a:t>
            </a:r>
            <a:r>
              <a:rPr lang="en-US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Test Execution):</a:t>
            </a:r>
            <a:r>
              <a:rPr lang="en-US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</a:t>
            </a:r>
            <a:r>
              <a:rPr lang="as-IN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ডিজাইনকৃত টেস্ট কেস অনুযায়ী ম্যানুয়ালি বা অটোমেশন টুলের মাধ্যমে টেস্ট চালানো এবং প্রকৃত ফলাফল (</a:t>
            </a:r>
            <a:r>
              <a:rPr lang="en-US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Actual Result) </a:t>
            </a:r>
            <a:r>
              <a:rPr lang="as-IN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রেকর্ড করা।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as-IN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বাগ রিপোর্টিং (</a:t>
            </a:r>
            <a:r>
              <a:rPr lang="en-US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Defect Reporting):</a:t>
            </a:r>
            <a:r>
              <a:rPr lang="en-US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</a:t>
            </a:r>
            <a:r>
              <a:rPr lang="as-IN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প্রত্যাশিত এবং প্রকৃত ফলাফলের মধ্যে অমিল পাওয়া গেলে, একটি বাগ বা ডিফেক্ট রিপোর্ট তৈরি করে সংশ্লিষ্ট ডেভেলপার টিমকে জানানো।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as-IN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রিগ্রেশন ও রিটেস্টিং (</a:t>
            </a:r>
            <a:r>
              <a:rPr lang="en-US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Regression &amp; Retesting):</a:t>
            </a:r>
            <a:r>
              <a:rPr lang="en-US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</a:t>
            </a:r>
            <a:r>
              <a:rPr lang="as-IN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ডেভেলপাররা বাগ ঠিক করার পর, সংশ্লিষ্ট ফাংশন রিটেস্ট করা এবং অন্য কোন ফাংশন ক্ষতিগ্রস্ত হয়েছে কিনা তা দেখতে রিগ্রেশন টেস্ট করা।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as-IN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টেস্ট ক্লোজার (</a:t>
            </a:r>
            <a:r>
              <a:rPr lang="en-US" sz="2000" b="1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Test Closure):</a:t>
            </a:r>
            <a:r>
              <a:rPr lang="en-US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 </a:t>
            </a:r>
            <a:r>
              <a:rPr lang="as-IN" sz="20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সমস্ত প্ল্যান করা টেস্ট সম্পন্ন এবং প্রি-ডিফাইন্ড এক্সিট ক্রাইটেরিয়া (যেমন- কোন ক্রিটিক্যাল বাগ নেই) পূরণ হলে, টেস্টিং সাইকেল শেষ করে রিপোর্ট তৈরি করা।</a:t>
            </a:r>
          </a:p>
        </p:txBody>
      </p:sp>
    </p:spTree>
    <p:extLst>
      <p:ext uri="{BB962C8B-B14F-4D97-AF65-F5344CB8AC3E}">
        <p14:creationId xmlns:p14="http://schemas.microsoft.com/office/powerpoint/2010/main" val="2492892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0" y="546100"/>
            <a:ext cx="4780756" cy="828000"/>
            <a:chOff x="1523376" y="8642689"/>
            <a:chExt cx="253764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1523376" y="8642693"/>
              <a:ext cx="2321548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404437" y="738240"/>
            <a:ext cx="3962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as-IN" sz="2800" b="1" dirty="0">
                <a:solidFill>
                  <a:srgbClr val="F9FAFB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প্রোগ্রাম/কোড উদাহরণ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9967AE0-0F0D-4FA5-A0A8-894638C24A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17110646" y="9385300"/>
            <a:ext cx="1173798" cy="985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5A9383-9CCA-40AE-936B-4BC6E3876E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156" y="546100"/>
            <a:ext cx="8262088" cy="975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2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1" y="546100"/>
            <a:ext cx="5009356" cy="828000"/>
            <a:chOff x="1523376" y="8642689"/>
            <a:chExt cx="253764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1523376" y="8642693"/>
              <a:ext cx="2321548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665956" y="738245"/>
            <a:ext cx="3581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as-IN" sz="2800" b="1" dirty="0">
                <a:solidFill>
                  <a:srgbClr val="F9FAFB"/>
                </a:solidFill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উপসংহার </a:t>
            </a:r>
          </a:p>
        </p:txBody>
      </p:sp>
      <p:sp>
        <p:nvSpPr>
          <p:cNvPr id="28" name="object 9">
            <a:extLst>
              <a:ext uri="{FF2B5EF4-FFF2-40B4-BE49-F238E27FC236}">
                <a16:creationId xmlns:a16="http://schemas.microsoft.com/office/drawing/2014/main" id="{611FEB3F-182F-4544-8573-BCCA7373EA7F}"/>
              </a:ext>
            </a:extLst>
          </p:cNvPr>
          <p:cNvSpPr txBox="1"/>
          <p:nvPr/>
        </p:nvSpPr>
        <p:spPr>
          <a:xfrm>
            <a:off x="653256" y="4406045"/>
            <a:ext cx="3581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cs-CZ" sz="2800" dirty="0">
                <a:solidFill>
                  <a:srgbClr val="FFFFFF"/>
                </a:solidFill>
                <a:cs typeface="Source Sans Pro Light"/>
              </a:rPr>
              <a:t>EVALUATE</a:t>
            </a:r>
            <a:endParaRPr lang="cs-CZ" sz="2800" dirty="0">
              <a:cs typeface="Source Sans Pro Light"/>
            </a:endParaRP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5F94DCF5-2FA8-4522-989B-601D3FC1EA66}"/>
              </a:ext>
            </a:extLst>
          </p:cNvPr>
          <p:cNvSpPr txBox="1">
            <a:spLocks/>
          </p:cNvSpPr>
          <p:nvPr/>
        </p:nvSpPr>
        <p:spPr>
          <a:xfrm>
            <a:off x="1306958" y="2662105"/>
            <a:ext cx="16396395" cy="6799395"/>
          </a:xfrm>
          <a:prstGeom prst="rect">
            <a:avLst/>
          </a:prstGeom>
        </p:spPr>
        <p:txBody>
          <a:bodyPr>
            <a:noAutofit/>
          </a:bodyPr>
          <a:lstStyle>
            <a:lvl1pPr marL="356433" indent="-356433" algn="l" defTabSz="1425732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43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299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2166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5032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898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764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631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6497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9363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</a:pP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সফটওয়্যার টেস্টিং এবং কোয়ালিটি অ্যাস্যুরেন্স কোনো এককালীন কাজ নয়; এটি 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SDLC-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র সাথে সমন্বিত একটি চলমান প্রক্রিয়া। এর সফল বাস্তবায়ন একটি নির্ভুল, দক্ষ এবং ব্যবহারকারী-বান্ধব সফটওয়্যার তৈরি করতে অত্যন্ত গুরুত্বপূর্ণ। ম্যানুয়াল টেস্টিংয়ের পাশাপাশি সঠিক টুল নির্বাচন করে অটোমেশন টেস্টিং প্রক্রিয়াকে আরও দ্রুত ও কার্যকর করা যায়। প্রযুক্তির বিকাশের সাথে সাথে 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AI 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ও মেশিন লার্নিং এর সাহায্যে টেস্ট কেস জেনারেশন, অ্যানালিটিক্স এবং প্রেডিক্টিভ টেস্টিংয়ের মতো নতুন দিগন্তও উন্মোচিত হচ্ছে। সর্বোপরি, টেস্টিং এবং </a:t>
            </a:r>
            <a:r>
              <a:rPr lang="en-US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QA </a:t>
            </a:r>
            <a:r>
              <a:rPr lang="as-IN" sz="32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দলের লক্ষ্য কেবল বাগ খুঁজে বের করা নয়, বরং উন্নয়ন প্রক্রিয়ায় মূল্য যোগ করে চূড়ান্তভাবে একটি বিশ্বস্ত ডিজিটাল পণ্য নিশ্চিত করা।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CEB0400-4563-41CA-87A7-3F46752A9A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17110646" y="9385300"/>
            <a:ext cx="1173798" cy="985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11769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1" y="546100"/>
            <a:ext cx="5009356" cy="828000"/>
            <a:chOff x="1523376" y="8642689"/>
            <a:chExt cx="253764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1523376" y="8642693"/>
              <a:ext cx="2321548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665956" y="738245"/>
            <a:ext cx="3581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as-IN" sz="2800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ধন্যবাদান্তে</a:t>
            </a:r>
            <a:endParaRPr lang="as-IN" sz="2800" b="1" dirty="0">
              <a:solidFill>
                <a:schemeClr val="bg1"/>
              </a:solidFill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28" name="object 9">
            <a:extLst>
              <a:ext uri="{FF2B5EF4-FFF2-40B4-BE49-F238E27FC236}">
                <a16:creationId xmlns:a16="http://schemas.microsoft.com/office/drawing/2014/main" id="{611FEB3F-182F-4544-8573-BCCA7373EA7F}"/>
              </a:ext>
            </a:extLst>
          </p:cNvPr>
          <p:cNvSpPr txBox="1"/>
          <p:nvPr/>
        </p:nvSpPr>
        <p:spPr>
          <a:xfrm>
            <a:off x="653256" y="4406045"/>
            <a:ext cx="3581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cs-CZ" sz="2800" dirty="0">
                <a:solidFill>
                  <a:srgbClr val="FFFFFF"/>
                </a:solidFill>
                <a:cs typeface="Source Sans Pro Light"/>
              </a:rPr>
              <a:t>EVALUATE</a:t>
            </a:r>
            <a:endParaRPr lang="cs-CZ" sz="2800" dirty="0">
              <a:cs typeface="Source Sans Pro Light"/>
            </a:endParaRP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5F94DCF5-2FA8-4522-989B-601D3FC1EA66}"/>
              </a:ext>
            </a:extLst>
          </p:cNvPr>
          <p:cNvSpPr txBox="1">
            <a:spLocks/>
          </p:cNvSpPr>
          <p:nvPr/>
        </p:nvSpPr>
        <p:spPr>
          <a:xfrm>
            <a:off x="1306958" y="2662105"/>
            <a:ext cx="16396395" cy="6799395"/>
          </a:xfrm>
          <a:prstGeom prst="rect">
            <a:avLst/>
          </a:prstGeom>
        </p:spPr>
        <p:txBody>
          <a:bodyPr>
            <a:noAutofit/>
          </a:bodyPr>
          <a:lstStyle>
            <a:lvl1pPr marL="356433" indent="-356433" algn="l" defTabSz="1425732" rtl="0" eaLnBrk="1" latinLnBrk="0" hangingPunct="1">
              <a:lnSpc>
                <a:spcPct val="90000"/>
              </a:lnSpc>
              <a:spcBef>
                <a:spcPts val="1559"/>
              </a:spcBef>
              <a:buFont typeface="Arial" panose="020B0604020202020204" pitchFamily="34" charset="0"/>
              <a:buChar char="•"/>
              <a:defRPr sz="43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299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37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2166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5032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898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764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631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6497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9363" indent="-356433" algn="l" defTabSz="1425732" rtl="0" eaLnBrk="1" latinLnBrk="0" hangingPunct="1">
              <a:lnSpc>
                <a:spcPct val="90000"/>
              </a:lnSpc>
              <a:spcBef>
                <a:spcPts val="780"/>
              </a:spcBef>
              <a:buFont typeface="Arial" panose="020B0604020202020204" pitchFamily="34" charset="0"/>
              <a:buChar char="•"/>
              <a:defRPr sz="28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8000" b="1" dirty="0"/>
              <a:t>Thank You!</a:t>
            </a:r>
            <a:br>
              <a:rPr lang="en-US" sz="8000" dirty="0"/>
            </a:br>
            <a:r>
              <a:rPr lang="en-US" sz="8000" dirty="0"/>
              <a:t>Let’s Build Quality Software Together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1600" b="0" i="0" dirty="0"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sz="16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sz="1600" b="0" i="0" dirty="0"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b="0" i="0" dirty="0">
                <a:effectLst/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GitHub Link : https://github.com/yeaminhossainfuhad-cloud/SQA_DPI_8th_Project.git</a:t>
            </a:r>
            <a:endParaRPr lang="as-IN" sz="2400" b="0" i="0" dirty="0">
              <a:effectLst/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CEB0400-4563-41CA-87A7-3F46752A9A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17110646" y="9385300"/>
            <a:ext cx="1173798" cy="9858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88538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gnetic Fields - by Lifeliqe autor Michael Carter.pptx" id="{1CD8B0ED-503E-4F9D-BE1F-EA91A594AAD6}" vid="{DDA4976A-1FAE-4427-8059-0A415774D0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Magnetism Magnetic Fields</Template>
  <TotalTime>165</TotalTime>
  <Words>802</Words>
  <Application>Microsoft Office PowerPoint</Application>
  <PresentationFormat>Custom</PresentationFormat>
  <Paragraphs>62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Google Sans</vt:lpstr>
      <vt:lpstr>Nirmala UI</vt:lpstr>
      <vt:lpstr>Office Theme</vt:lpstr>
      <vt:lpstr>Tejgaon, Dhaka- 1208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Tejgaon, Dhaka- 1208</dc:title>
  <dc:creator>Yeamin Hossain Fuhad</dc:creator>
  <cp:lastModifiedBy>Yeamin Hossain Fuhad</cp:lastModifiedBy>
  <cp:revision>20</cp:revision>
  <dcterms:created xsi:type="dcterms:W3CDTF">2025-12-28T12:47:36Z</dcterms:created>
  <dcterms:modified xsi:type="dcterms:W3CDTF">2025-12-28T19:08:19Z</dcterms:modified>
</cp:coreProperties>
</file>